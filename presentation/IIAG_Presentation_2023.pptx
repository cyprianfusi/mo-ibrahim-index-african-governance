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314" autoAdjust="0"/>
  </p:normalViewPr>
  <p:slideViewPr>
    <p:cSldViewPr snapToGrid="0" snapToObjects="1">
      <p:cViewPr varScale="1">
        <p:scale>
          <a:sx n="69" d="100"/>
          <a:sy n="69" d="100"/>
        </p:scale>
        <p:origin x="18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BEDA2-20D6-4DE7-BB82-3996E9AE8D0F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3A3D6C-916E-4FDA-9B0D-B5453499ED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84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A3D6C-916E-4FDA-9B0D-B5453499EDF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492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African Governance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Ibrahim Index Analysis 2014-2023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3912B-2AD5-49DC-5044-AA55ADB968DF}"/>
              </a:ext>
            </a:extLst>
          </p:cNvPr>
          <p:cNvSpPr txBox="1"/>
          <p:nvPr/>
        </p:nvSpPr>
        <p:spPr>
          <a:xfrm>
            <a:off x="457199" y="5798634"/>
            <a:ext cx="2609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By Cyprian Fusi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Binati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AInalytics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https://binati-ai.com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Presentation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815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Overview: What is the Ibrahim Index?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Continental Snapshot: Current State of Governance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Top Performers: Success Stories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Improvement Champions: Countries Making Progress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Challenges: Areas Needing Attention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Regional Analysis: Geographic Patterns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Category Deep Dive: What Drives Good Governance?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Recommendations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6619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rPr sz="3200" dirty="0"/>
              <a:t>What is the Ibrahim Index of African Governance?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468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Most comprehensive assessment of </a:t>
            </a:r>
            <a:r>
              <a:rPr b="1" dirty="0"/>
              <a:t>African governance</a:t>
            </a:r>
          </a:p>
          <a:p>
            <a:pPr marL="342900" indent="-3429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Covers </a:t>
            </a:r>
            <a:r>
              <a:rPr b="1" dirty="0"/>
              <a:t>54 countries </a:t>
            </a:r>
            <a:r>
              <a:rPr dirty="0"/>
              <a:t>across the continent (2014-2023)</a:t>
            </a:r>
          </a:p>
          <a:p>
            <a:pPr marL="342900" indent="-3429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Measures </a:t>
            </a:r>
            <a:r>
              <a:rPr b="1" dirty="0"/>
              <a:t>4 key categories </a:t>
            </a:r>
            <a:r>
              <a:rPr dirty="0"/>
              <a:t>with 16 subcategories</a:t>
            </a:r>
          </a:p>
          <a:p>
            <a:pPr marL="342900" indent="-3429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Scores range from </a:t>
            </a:r>
            <a:r>
              <a:rPr b="1" dirty="0"/>
              <a:t>0-100</a:t>
            </a:r>
            <a:r>
              <a:rPr dirty="0"/>
              <a:t> (100 = best governance)</a:t>
            </a:r>
          </a:p>
          <a:p>
            <a:pPr marL="342900" indent="-3429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Data from 100+ indicators (</a:t>
            </a:r>
            <a:r>
              <a:rPr b="1" dirty="0"/>
              <a:t>World Bank, UN, AfDB</a:t>
            </a:r>
            <a:r>
              <a:rPr dirty="0"/>
              <a:t>, etc.)</a:t>
            </a:r>
          </a:p>
          <a:p>
            <a:pPr marL="342900" indent="-3429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Published annually by </a:t>
            </a:r>
            <a:r>
              <a:rPr b="1" dirty="0"/>
              <a:t>Mo Ibrahim Foundation</a:t>
            </a:r>
            <a:r>
              <a:rPr lang="en-GB" b="1" dirty="0"/>
              <a:t> (MIF)</a:t>
            </a:r>
            <a:endParaRPr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Four Pillars of African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199" y="1645920"/>
            <a:ext cx="8229599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dirty="0"/>
              <a:t>1. </a:t>
            </a:r>
            <a:r>
              <a:rPr b="1" dirty="0"/>
              <a:t>Security &amp; Rule of Law </a:t>
            </a:r>
            <a:r>
              <a:rPr dirty="0"/>
              <a:t>- Safety, justice, accountability, anti-corruption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dirty="0"/>
              <a:t>2. </a:t>
            </a:r>
            <a:r>
              <a:rPr b="1" dirty="0"/>
              <a:t>Participation, Rights &amp; Inclusion </a:t>
            </a:r>
            <a:r>
              <a:rPr dirty="0"/>
              <a:t>- Democracy, rights, equality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dirty="0"/>
              <a:t>3. </a:t>
            </a:r>
            <a:r>
              <a:rPr b="1" dirty="0"/>
              <a:t>Foundations for Economic Opportunity </a:t>
            </a:r>
            <a:r>
              <a:rPr dirty="0"/>
              <a:t>- Infrastructure, business environment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dirty="0"/>
              <a:t>4. </a:t>
            </a:r>
            <a:r>
              <a:rPr b="1" dirty="0"/>
              <a:t>Human Development </a:t>
            </a:r>
            <a:r>
              <a:rPr dirty="0"/>
              <a:t>- Health, education, social protection,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2697" y="5037114"/>
            <a:ext cx="5678606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64BA2"/>
                </a:solidFill>
              </a:defRPr>
            </a:pPr>
            <a:endParaRPr lang="en-GB" dirty="0"/>
          </a:p>
          <a:p>
            <a:pPr algn="ctr">
              <a:defRPr sz="1600">
                <a:solidFill>
                  <a:srgbClr val="764BA2"/>
                </a:solidFill>
              </a:defRPr>
            </a:pPr>
            <a:r>
              <a:rPr dirty="0"/>
              <a:t>2023 Continental Averages:</a:t>
            </a:r>
          </a:p>
          <a:p>
            <a:r>
              <a:rPr dirty="0"/>
              <a:t>Security &amp; Rule of Law: 47.9  |  Participation &amp; Rights: 48.7</a:t>
            </a:r>
          </a:p>
          <a:p>
            <a:r>
              <a:rPr dirty="0"/>
              <a:t>Economic Opportunity: 48.9  |  Human Development: 51.6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Continental Snapshot (2023)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1828800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African</a:t>
            </a:r>
          </a:p>
          <a:p>
            <a:r>
              <a:t>Countries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2286000"/>
            <a:ext cx="1828800" cy="16459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1760" y="25603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49.3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918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/>
              <a:t>Continental</a:t>
            </a:r>
          </a:p>
          <a:p>
            <a:r>
              <a:rPr dirty="0"/>
              <a:t>Average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286000"/>
            <a:ext cx="1828800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75.3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Highest Score</a:t>
            </a:r>
          </a:p>
          <a:p>
            <a:r>
              <a:t>(Seychelles)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286000"/>
            <a:ext cx="1828800" cy="16459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19.0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Lowest Score</a:t>
            </a:r>
          </a:p>
          <a:p>
            <a:r>
              <a:t>(South Sudan)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C3E50"/>
                </a:solidFill>
              </a:defRPr>
            </a:pPr>
            <a:r>
              <a:t>56.3-point spread demonstrates vast governance diversity across Africa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Top &amp; Bottom Performers (2023)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2_top_bottom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1500"/>
            <a:ext cx="8151541" cy="58124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Excellence in Governance: Top 10 Countries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837385"/>
              </p:ext>
            </p:extLst>
          </p:nvPr>
        </p:nvGraphicFramePr>
        <p:xfrm>
          <a:off x="1828800" y="164592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7151">
                  <a:extLst>
                    <a:ext uri="{9D8B030D-6E8A-4147-A177-3AD203B41FA5}">
                      <a16:colId xmlns:a16="http://schemas.microsoft.com/office/drawing/2014/main" val="971562019"/>
                    </a:ext>
                  </a:extLst>
                </a:gridCol>
                <a:gridCol w="2341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07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dirty="0"/>
                        <a:t>Rank</a:t>
                      </a:r>
                      <a:endParaRPr dirty="0"/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dirty="0"/>
                        <a:t>Country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GB" dirty="0"/>
                        <a:t>Seychelles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75.3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dirty="0"/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GB" dirty="0"/>
                        <a:t>Mauritius</a:t>
                      </a:r>
                      <a:endParaRPr dirty="0"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72.8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GB" dirty="0"/>
                        <a:t>Cabo Verde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69.6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dirty="0"/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GB" dirty="0"/>
                        <a:t>South Africa</a:t>
                      </a:r>
                      <a:endParaRPr dirty="0"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65.9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GB" dirty="0"/>
                        <a:t>Botswana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65.8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dirty="0"/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GB" dirty="0"/>
                        <a:t>Namibia</a:t>
                      </a:r>
                      <a:endParaRPr dirty="0"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63.9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GB" dirty="0"/>
                        <a:t>Ghana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62.2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dirty="0"/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GB" dirty="0"/>
                        <a:t>Morocco</a:t>
                      </a:r>
                      <a:endParaRPr dirty="0"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62.0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GB" dirty="0"/>
                        <a:t>Tunisia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dirty="0"/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GB" dirty="0"/>
                        <a:t>Kenya</a:t>
                      </a:r>
                      <a:endParaRPr dirty="0"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dirty="0"/>
                        <a:t>60.3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What Makes Top Performers Succeed?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5688" y="1314729"/>
            <a:ext cx="861543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Island Nation Advantage</a:t>
            </a:r>
            <a:r>
              <a:rPr dirty="0"/>
              <a:t>: Top 3 are all islands (Seychelles, Mauritius, Cabo Verde)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Manageable scale of governance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Economic specialization (tourism, services)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Strong institutions and political stability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Mainland Leaders</a:t>
            </a:r>
            <a:r>
              <a:rPr dirty="0"/>
              <a:t>: South Africa (4th), Botswana (5th) demonstrate continental success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Common Success Factors: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Strong rule of law and judicial independence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Low corruption levels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High human development investments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Democratic governance and civic participation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10-Year Governance Trends (2014-2023)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3A8548-42E0-8D95-6C23-0AD9C0903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90" y="1697732"/>
            <a:ext cx="8229599" cy="43573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0320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rPr sz="2800" dirty="0"/>
              <a:t>Remarkable Improvements: Top Gainers (2014-2023)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304400"/>
              </p:ext>
            </p:extLst>
          </p:nvPr>
        </p:nvGraphicFramePr>
        <p:xfrm>
          <a:off x="1594624" y="1586596"/>
          <a:ext cx="5077265" cy="4247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146554541"/>
                    </a:ext>
                  </a:extLst>
                </a:gridCol>
                <a:gridCol w="1798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693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dirty="0"/>
                        <a:t>Rank</a:t>
                      </a:r>
                      <a:endParaRPr dirty="0"/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dirty="0"/>
                        <a:t>Country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0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lang="en-GB" dirty="0"/>
                        <a:t>Seychelles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ECC71"/>
                          </a:solidFill>
                        </a:defRPr>
                      </a:pPr>
                      <a:r>
                        <a:t>+10.0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0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>
                    <a:solidFill>
                      <a:srgbClr val="F0F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lang="en-GB" dirty="0"/>
                        <a:t>Gambia</a:t>
                      </a:r>
                      <a:endParaRPr dirty="0"/>
                    </a:p>
                  </a:txBody>
                  <a:tcPr>
                    <a:solidFill>
                      <a:srgbClr val="F0F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ECC71"/>
                          </a:solidFill>
                        </a:defRPr>
                      </a:pPr>
                      <a:r>
                        <a:t>+7.2</a:t>
                      </a:r>
                    </a:p>
                  </a:txBody>
                  <a:tcPr>
                    <a:solidFill>
                      <a:srgbClr val="F0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0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lang="en-GB" dirty="0"/>
                        <a:t>Somalia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ECC71"/>
                          </a:solidFill>
                        </a:defRPr>
                      </a:pPr>
                      <a:r>
                        <a:rPr dirty="0"/>
                        <a:t>+6.8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0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>
                    <a:solidFill>
                      <a:srgbClr val="F0F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lang="en-GB" dirty="0"/>
                        <a:t>Sierra Leone</a:t>
                      </a:r>
                      <a:endParaRPr dirty="0"/>
                    </a:p>
                  </a:txBody>
                  <a:tcPr>
                    <a:solidFill>
                      <a:srgbClr val="F0F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ECC71"/>
                          </a:solidFill>
                        </a:defRPr>
                      </a:pPr>
                      <a:r>
                        <a:t>+6.4</a:t>
                      </a:r>
                    </a:p>
                  </a:txBody>
                  <a:tcPr>
                    <a:solidFill>
                      <a:srgbClr val="F0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0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lang="en-GB" dirty="0"/>
                        <a:t>Angola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ECC71"/>
                          </a:solidFill>
                        </a:defRPr>
                      </a:pPr>
                      <a:r>
                        <a:t>+5.8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0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>
                    <a:solidFill>
                      <a:srgbClr val="F0F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lang="en-GB" dirty="0"/>
                        <a:t>Morocco</a:t>
                      </a:r>
                      <a:endParaRPr dirty="0"/>
                    </a:p>
                  </a:txBody>
                  <a:tcPr>
                    <a:solidFill>
                      <a:srgbClr val="F0F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ECC71"/>
                          </a:solidFill>
                        </a:defRPr>
                      </a:pPr>
                      <a:r>
                        <a:t>+5.3</a:t>
                      </a:r>
                    </a:p>
                  </a:txBody>
                  <a:tcPr>
                    <a:solidFill>
                      <a:srgbClr val="F0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0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lang="en-GB" dirty="0"/>
                        <a:t>Togo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ECC71"/>
                          </a:solidFill>
                        </a:defRPr>
                      </a:pPr>
                      <a:r>
                        <a:t>+4.2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90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>
                    <a:solidFill>
                      <a:srgbClr val="F0F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lang="en-GB" dirty="0"/>
                        <a:t>Côte d'Ivoire</a:t>
                      </a:r>
                      <a:endParaRPr dirty="0"/>
                    </a:p>
                  </a:txBody>
                  <a:tcPr>
                    <a:solidFill>
                      <a:srgbClr val="F0F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ECC71"/>
                          </a:solidFill>
                        </a:defRPr>
                      </a:pPr>
                      <a:r>
                        <a:rPr dirty="0"/>
                        <a:t>+4.1</a:t>
                      </a:r>
                    </a:p>
                  </a:txBody>
                  <a:tcPr>
                    <a:solidFill>
                      <a:srgbClr val="F0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Success Stories: What Drove Improvement?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199" y="1371600"/>
            <a:ext cx="830765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Seychelles</a:t>
            </a:r>
            <a:r>
              <a:rPr dirty="0"/>
              <a:t> (+10.0 points): Sustained economic diversification and institutional strengthening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Gambia</a:t>
            </a:r>
            <a:r>
              <a:rPr dirty="0"/>
              <a:t> (+7.2 points): Democratic transition after 22-year autocracy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2016 election marked peaceful transfer of power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Restoration of civil liberties and press freedom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Somalia</a:t>
            </a:r>
            <a:r>
              <a:rPr dirty="0"/>
              <a:t> (+6.8 points): Post-conflict recovery and state-building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Federal government formation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Security sector improvements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Key Lesson</a:t>
            </a:r>
            <a:r>
              <a:rPr dirty="0"/>
              <a:t>: Transformation is possible with political will and sustained reform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Improvers vs. Decliners: Complete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5_governance_chang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41" y="1192596"/>
            <a:ext cx="7928517" cy="56654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Governance Challenges: Countries in Decline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04672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Concerning trends in previously strong performers: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b="1" dirty="0"/>
              <a:t>Botswana</a:t>
            </a:r>
            <a:r>
              <a:rPr dirty="0"/>
              <a:t>: </a:t>
            </a:r>
            <a:r>
              <a:rPr dirty="0">
                <a:solidFill>
                  <a:srgbClr val="FF0000"/>
                </a:solidFill>
              </a:rPr>
              <a:t>-3.6 </a:t>
            </a:r>
            <a:r>
              <a:rPr dirty="0"/>
              <a:t>points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b="1" dirty="0"/>
              <a:t>Burkina Faso</a:t>
            </a:r>
            <a:r>
              <a:rPr dirty="0"/>
              <a:t>: </a:t>
            </a:r>
            <a:r>
              <a:rPr dirty="0">
                <a:solidFill>
                  <a:srgbClr val="FF0000"/>
                </a:solidFill>
              </a:rPr>
              <a:t>-3.9 </a:t>
            </a:r>
            <a:r>
              <a:rPr dirty="0"/>
              <a:t>points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b="1" dirty="0"/>
              <a:t>Mauritius</a:t>
            </a:r>
            <a:r>
              <a:rPr dirty="0"/>
              <a:t>: </a:t>
            </a:r>
            <a:r>
              <a:rPr dirty="0">
                <a:solidFill>
                  <a:srgbClr val="FF0000"/>
                </a:solidFill>
              </a:rPr>
              <a:t>-4.0 </a:t>
            </a:r>
            <a:r>
              <a:rPr dirty="0"/>
              <a:t>points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b="1" dirty="0"/>
              <a:t>Mali</a:t>
            </a:r>
            <a:r>
              <a:rPr dirty="0"/>
              <a:t>: </a:t>
            </a:r>
            <a:r>
              <a:rPr dirty="0">
                <a:solidFill>
                  <a:srgbClr val="FF0000"/>
                </a:solidFill>
              </a:rPr>
              <a:t>-4.6 </a:t>
            </a:r>
            <a:r>
              <a:rPr dirty="0"/>
              <a:t>points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b="1" dirty="0"/>
              <a:t>Comoros</a:t>
            </a:r>
            <a:r>
              <a:rPr dirty="0"/>
              <a:t>: </a:t>
            </a:r>
            <a:r>
              <a:rPr dirty="0">
                <a:solidFill>
                  <a:srgbClr val="FF0000"/>
                </a:solidFill>
              </a:rPr>
              <a:t>-4.7 </a:t>
            </a:r>
            <a:r>
              <a:rPr dirty="0"/>
              <a:t>points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b="1" dirty="0"/>
              <a:t>Tunisia</a:t>
            </a:r>
            <a:r>
              <a:rPr dirty="0"/>
              <a:t>: </a:t>
            </a:r>
            <a:r>
              <a:rPr dirty="0">
                <a:solidFill>
                  <a:srgbClr val="FF0000"/>
                </a:solidFill>
              </a:rPr>
              <a:t>-4.7 </a:t>
            </a:r>
            <a:r>
              <a:rPr dirty="0"/>
              <a:t>points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Common factors driving decline: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Democratic backsliding and erosion of civil liberties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Economic pressures reducing governance capacity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Security deterioration (especially Sahel region)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Institutional complacency after years of strong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61806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rPr sz="3200" dirty="0"/>
              <a:t>Regional Patterns: Geographic Governance Divide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6_region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1714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Regional Performance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Southern Africa </a:t>
            </a:r>
            <a:r>
              <a:rPr dirty="0"/>
              <a:t>leads at 54.6 average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Benefits from </a:t>
            </a:r>
            <a:r>
              <a:rPr b="1" dirty="0"/>
              <a:t>SADC integration </a:t>
            </a:r>
            <a:r>
              <a:rPr dirty="0"/>
              <a:t>and relatively stable democracies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Strong performers: </a:t>
            </a:r>
            <a:r>
              <a:rPr b="1" dirty="0"/>
              <a:t>Botswana, Namibia, South Africa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>
                <a:solidFill>
                  <a:srgbClr val="FF0000"/>
                </a:solidFill>
              </a:rPr>
              <a:t>Central Africa </a:t>
            </a:r>
            <a:r>
              <a:rPr dirty="0"/>
              <a:t>faces challenges at 39.7 average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Lowest regional score - 15 points below leaders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Persistent conflicts and weak institutions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East Africa </a:t>
            </a:r>
            <a:r>
              <a:rPr dirty="0"/>
              <a:t>shows highest variation (includes both Seychelles at 75.3 and South Sudan at 19.0)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Key Insight</a:t>
            </a:r>
            <a:r>
              <a:rPr dirty="0"/>
              <a:t>: Regional cooperation matters - integrated regions perform better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30849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rPr sz="3200" dirty="0"/>
              <a:t>Multi-Dimensional View: Category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4_category_heatmap_to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039" y="1079433"/>
            <a:ext cx="6381093" cy="56475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What Drives Overall Governance?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7_category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752" y="1010568"/>
            <a:ext cx="6612672" cy="58474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Key Insights &amp;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5688" y="1273394"/>
            <a:ext cx="8597590" cy="558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 sz="2000">
                <a:solidFill>
                  <a:srgbClr val="2C3E50"/>
                </a:solidFill>
              </a:defRPr>
            </a:pPr>
            <a:r>
              <a:rPr b="1" dirty="0"/>
              <a:t>Island nations excel </a:t>
            </a:r>
            <a:r>
              <a:rPr dirty="0"/>
              <a:t>- but mainland success is possible (</a:t>
            </a:r>
            <a:r>
              <a:rPr b="1" dirty="0"/>
              <a:t>South Africa, Botswana</a:t>
            </a:r>
            <a:r>
              <a:rPr dirty="0"/>
              <a:t>)</a:t>
            </a:r>
          </a:p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 sz="2000">
                <a:solidFill>
                  <a:srgbClr val="2C3E50"/>
                </a:solidFill>
              </a:defRPr>
            </a:pPr>
            <a:r>
              <a:rPr b="1" dirty="0"/>
              <a:t>Reform momentum works </a:t>
            </a:r>
            <a:r>
              <a:rPr dirty="0"/>
              <a:t>- </a:t>
            </a:r>
            <a:r>
              <a:rPr b="1" dirty="0"/>
              <a:t>Gambia, Somalia </a:t>
            </a:r>
            <a:r>
              <a:rPr dirty="0"/>
              <a:t>show dramatic improvements possible</a:t>
            </a:r>
          </a:p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 sz="2000">
                <a:solidFill>
                  <a:srgbClr val="2C3E50"/>
                </a:solidFill>
              </a:defRPr>
            </a:pPr>
            <a:r>
              <a:rPr b="1" dirty="0"/>
              <a:t>Vigilance required </a:t>
            </a:r>
            <a:r>
              <a:rPr dirty="0"/>
              <a:t>- even strong performers can decline (</a:t>
            </a:r>
            <a:r>
              <a:rPr b="1" dirty="0"/>
              <a:t>Tunisia, Mauritius</a:t>
            </a:r>
            <a:r>
              <a:rPr dirty="0"/>
              <a:t>)</a:t>
            </a:r>
          </a:p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 sz="2000">
                <a:solidFill>
                  <a:srgbClr val="2C3E50"/>
                </a:solidFill>
              </a:defRPr>
            </a:pPr>
            <a:r>
              <a:rPr b="1" dirty="0"/>
              <a:t>Regional disparities persist </a:t>
            </a:r>
            <a:r>
              <a:rPr dirty="0"/>
              <a:t>- 15-point gap between best and worst regions</a:t>
            </a:r>
          </a:p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 sz="2000">
                <a:solidFill>
                  <a:srgbClr val="2C3E50"/>
                </a:solidFill>
              </a:defRPr>
            </a:pPr>
            <a:r>
              <a:rPr b="1" dirty="0"/>
              <a:t>All categories matter </a:t>
            </a:r>
            <a:r>
              <a:rPr dirty="0"/>
              <a:t>- strong correlations show interconnected reform needed</a:t>
            </a:r>
          </a:p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 sz="2000">
                <a:solidFill>
                  <a:srgbClr val="2C3E50"/>
                </a:solidFill>
              </a:defRPr>
            </a:pPr>
            <a:r>
              <a:rPr b="1" dirty="0"/>
              <a:t>Human Development </a:t>
            </a:r>
            <a:r>
              <a:rPr dirty="0"/>
              <a:t>leads - highest average score (</a:t>
            </a:r>
            <a:r>
              <a:rPr b="1" dirty="0"/>
              <a:t>51.6</a:t>
            </a:r>
            <a:r>
              <a:rPr dirty="0"/>
              <a:t>)</a:t>
            </a:r>
          </a:p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 sz="2000">
                <a:solidFill>
                  <a:srgbClr val="2C3E50"/>
                </a:solidFill>
              </a:defRPr>
            </a:pPr>
            <a:r>
              <a:rPr b="1" dirty="0"/>
              <a:t>Security &amp; Rule of Law most variable </a:t>
            </a:r>
            <a:r>
              <a:rPr dirty="0"/>
              <a:t>- critical foundation for progress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28947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rPr dirty="0"/>
              <a:t>Recommendations for Action</a:t>
            </a:r>
            <a:r>
              <a:rPr lang="en-GB" dirty="0"/>
              <a:t> (I)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For Policymakers: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Prioritize Security &amp; Rule of Law - foundation for other improvements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Learn from improvers - study Gambia, Somalia, Seychelles reforms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Monitor backsliding - early intervention in declining countries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endParaRPr lang="en-GB" dirty="0"/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For Development Partners: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Target </a:t>
            </a:r>
            <a:r>
              <a:rPr b="1" dirty="0"/>
              <a:t>Central Africa </a:t>
            </a:r>
            <a:r>
              <a:rPr dirty="0"/>
              <a:t>- greatest need, significant impact potential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Support post-conflict recovery - </a:t>
            </a:r>
            <a:r>
              <a:rPr b="1" dirty="0"/>
              <a:t>Somalia</a:t>
            </a:r>
            <a:r>
              <a:rPr dirty="0"/>
              <a:t> proves ROI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Strengthen regional institutions - </a:t>
            </a:r>
            <a:r>
              <a:rPr b="1" dirty="0"/>
              <a:t>integration</a:t>
            </a:r>
            <a:r>
              <a:rPr dirty="0"/>
              <a:t> correlates with performance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0D13-B40E-2838-0013-29ADE95D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3491FE-9516-ACFF-0415-1616FFC6A533}"/>
              </a:ext>
            </a:extLst>
          </p:cNvPr>
          <p:cNvSpPr txBox="1"/>
          <p:nvPr/>
        </p:nvSpPr>
        <p:spPr>
          <a:xfrm>
            <a:off x="457200" y="274320"/>
            <a:ext cx="65171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rPr dirty="0"/>
              <a:t>Recommendations for Action</a:t>
            </a:r>
            <a:r>
              <a:rPr lang="en-GB" dirty="0"/>
              <a:t>  (II)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EA7831-AC5E-EB56-86D2-FAD04D43443E}"/>
              </a:ext>
            </a:extLst>
          </p:cNvPr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533271-3DCE-B1A1-262C-56E93D0CE309}"/>
              </a:ext>
            </a:extLst>
          </p:cNvPr>
          <p:cNvSpPr txBox="1"/>
          <p:nvPr/>
        </p:nvSpPr>
        <p:spPr>
          <a:xfrm>
            <a:off x="731520" y="2355592"/>
            <a:ext cx="7772400" cy="2660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rPr b="1" dirty="0"/>
              <a:t>For All Stakeholders: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Take </a:t>
            </a:r>
            <a:r>
              <a:rPr b="1" dirty="0"/>
              <a:t>integrated approach </a:t>
            </a:r>
            <a:r>
              <a:rPr dirty="0"/>
              <a:t>- categories are </a:t>
            </a:r>
            <a:r>
              <a:rPr b="1" dirty="0"/>
              <a:t>interconnected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Sustain </a:t>
            </a:r>
            <a:r>
              <a:rPr b="1" dirty="0"/>
              <a:t>long-term commitment </a:t>
            </a:r>
            <a:r>
              <a:rPr dirty="0"/>
              <a:t>- governance gains require persistence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000">
                <a:solidFill>
                  <a:srgbClr val="2C3E50"/>
                </a:solidFill>
              </a:defRPr>
            </a:pPr>
            <a:r>
              <a:rPr dirty="0"/>
              <a:t>  Share best practices - facilitate </a:t>
            </a:r>
            <a:r>
              <a:rPr b="1" dirty="0"/>
              <a:t>South-South</a:t>
            </a:r>
            <a:r>
              <a:rPr dirty="0"/>
              <a:t> learning</a:t>
            </a:r>
          </a:p>
        </p:txBody>
      </p:sp>
    </p:spTree>
    <p:extLst>
      <p:ext uri="{BB962C8B-B14F-4D97-AF65-F5344CB8AC3E}">
        <p14:creationId xmlns:p14="http://schemas.microsoft.com/office/powerpoint/2010/main" val="403666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Data Source: Mo Ibrahim Foundation</a:t>
            </a:r>
          </a:p>
          <a:p>
            <a:r>
              <a:t>Ibrahim Index of African Governance (IIAG) 2024</a:t>
            </a:r>
          </a:p>
          <a:p>
            <a:r>
              <a:t>https://iiag.online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906</Words>
  <Application>Microsoft Office PowerPoint</Application>
  <PresentationFormat>On-screen Show (4:3)</PresentationFormat>
  <Paragraphs>190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Cyprian FUSI</cp:lastModifiedBy>
  <cp:revision>40</cp:revision>
  <dcterms:created xsi:type="dcterms:W3CDTF">2013-01-27T09:14:16Z</dcterms:created>
  <dcterms:modified xsi:type="dcterms:W3CDTF">2025-11-01T10:52:25Z</dcterms:modified>
  <cp:category/>
</cp:coreProperties>
</file>